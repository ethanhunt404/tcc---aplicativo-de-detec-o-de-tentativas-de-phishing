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5D6585D-DB47-42E9-B3C8-8EE100EE2526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Aula de reforço, de 40 a 50 minutos, para quem travou na etapa 14. Não repita a exposição da Aula 6: vá direto ao código. Peça que tragam o projeto aberto — a última metade da aula é aplicação no código deles.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BB516A-A5B6-4F98-B548-9A2B489D52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Pergunte quantos travaram em cada uma, levantando a mão. Ajuste o tempo de cada bloco conforme a votação.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7529DC-96B1-4C83-824F-3DDAA93AA9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Leia devagar e repita a última parte. É o núcleo da aula.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562841-8B01-4F02-ADE1-3B5E510AD1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Peça que cada aluno aplique o teste em três classes do próprio projeto, ali mesmo. Circule pela sala. Esse exercício resolve metade das dúvidas sem mais explicação.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8A94FB-2E99-4EC4-9999-FD9002CF45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Transição. Anuncie que os dois blocos de código resolvem o mesmo problema.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E5D953-C737-4F0E-A4F3-BC0D0B9C8A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Pergunte: quantos têm algo parecido no projeto? A maioria vai levantar a mão. Diga que não é vergonha — é o caminho natural de quem aprendeu a programar resolvendo exercícios pequenos.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26BCF59-B675-49E3-A93B-E9E4969660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Aponte linha a linha o que mudou. O ponto que mais impressiona é o último da coluna lateral: teste em milissegundos, sem infraestrutura.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B71ADCC-7107-4F19-AAC2-8AEF139FDF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Volte ao rodapé. É o critério C10 da avaliação, e é verificado por comando: grep procurando importações proibidas dentro do pacote de domínio.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E3554D-58C8-43A4-A657-D87B512E40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Faça o passo 1 ao vivo, com a especificação de uma equipe voluntária projetada na tela. Leva cinco minutos e a turma inteira entende o procedimento.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D3843A-E387-4308-8546-D31E837B6B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 último item da direita costuma ser o clique: o alterarSituacao devolve o estado anterior, e é exatamente isso que a pilha do desfazer empilha. A regra e a funcionalidade se encaixam.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BB217D-862F-4604-81F2-99EE782E0C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Anuncie que esta é a parte que normalmente causa mais resistência.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7A5DC62-3124-489D-A4A0-94484C058B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analogia que funciona: o domínio é quem faz o pedido; a persistência é quem entrega. Quem faz o pedido não precisa saber o endereço da cozinha.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6B0DA0-0103-4417-B095-D68FB65161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Feche o raciocínio: a separação não é preciosismo acadêmico. Ela serve para isto. Quem tem o domínio separado testa as regras em segundos; quem não tem, só descobre os defeitos na demonstração.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8704C1-53BA-4CB4-BA4E-DEB0B8F154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Peça que cada aluno marque, honestamente, quais dos cinco existem no próprio projeto. Os quatro primeiros levam uma tarde para corrigir; o quinto leva dois minutos.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5419AA-9B65-4346-A9A5-53B0DB991D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Reserve os últimos vinte minutos da aula para isso, com você circulando. É a parte que mais rende — explicação sem aplicação imediata não gruda.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5890CB-A561-474F-A145-5D5CA32F44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F1A227-5BBF-4FD4-9EF2-1D66ACB9B0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 rot="5400000">
            <a:off x="0" y="0"/>
            <a:ext cx="4480200" cy="448020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 rot="10800000">
            <a:off x="9117000" y="360"/>
            <a:ext cx="3081240" cy="3081240"/>
          </a:xfrm>
          <a:prstGeom prst="rtTriangle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1" descr="/home/claude/work/build/assets/logo_uniasselvi.png"/>
          <p:cNvPicPr/>
          <p:nvPr/>
        </p:nvPicPr>
        <p:blipFill>
          <a:blip r:embed="rId2"/>
          <a:stretch/>
        </p:blipFill>
        <p:spPr>
          <a:xfrm>
            <a:off x="8961120" y="4507920"/>
            <a:ext cx="2212560" cy="15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2"/>
          <p:cNvSpPr/>
          <p:nvPr/>
        </p:nvSpPr>
        <p:spPr>
          <a:xfrm>
            <a:off x="567000" y="411480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Engenharia de Software  |  Experiência Profissional: Desenvolvimento de Aplicações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567000" y="4480560"/>
            <a:ext cx="78634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Classe de domínio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567000" y="534924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que é, como reconhecer, como escrever — e os cinco erros que travam a maioria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567000" y="580644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Professor: Evaldo A. Oliveira 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As cinco dúvidas que travam todo mundo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713160" y="202068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960120" y="193860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O que é domínio, afinal?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palavra aparece o tempo todo e ninguém define. Vamos definir em uma frase e em um teste de dez segundos.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713160" y="28674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6"/>
          <p:cNvSpPr/>
          <p:nvPr/>
        </p:nvSpPr>
        <p:spPr>
          <a:xfrm>
            <a:off x="960120" y="278532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Por que a classe não pode acessar o banco?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Parece burocracia. Não é — e a razão fica óbvia quando você tenta testar.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713160" y="37141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960120" y="363204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Se não tem setter, como eu altero o objeto?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Tem como. E o resultado fica melhor do que com setter.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9"/>
          <p:cNvSpPr/>
          <p:nvPr/>
        </p:nvSpPr>
        <p:spPr>
          <a:xfrm>
            <a:off x="713160" y="45612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960120" y="447876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Como sei quais classes criar?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Existe um procedimento mecânico, que parte dos requisitos que você já escreveu.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713160" y="54079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960120" y="532548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Por que a interface do repositório fica no domínio?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É a parte mais contraintuitiva, e a que mais rende ponto na avaliação.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Se você travou em alguma dessas, esta aula é para você.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0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"/>
          <p:cNvSpPr/>
          <p:nvPr/>
        </p:nvSpPr>
        <p:spPr>
          <a:xfrm>
            <a:off x="1005840" y="19659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DA1A"/>
                </a:solidFill>
                <a:effectLst/>
                <a:uFillTx/>
                <a:latin typeface="Calibri"/>
                <a:ea typeface="Calibri"/>
              </a:rPr>
              <a:t>A DEFINIÇÃO, EM UMA FRASE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05840" y="2377440"/>
            <a:ext cx="9692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36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Classe de domínio é a representação, em código, de algo que existe no problema que você está resolvendo — e que continuaria existindo mesmo se não houvesse computador nenhum.</a:t>
            </a:r>
            <a:endParaRPr lang="pt-BR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1005840" y="4754880"/>
            <a:ext cx="9692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9BD8D2"/>
                </a:solidFill>
                <a:effectLst/>
                <a:uFillTx/>
                <a:latin typeface="Calibri"/>
                <a:ea typeface="Calibri"/>
              </a:rPr>
              <a:t>É essa frase que separa domínio de tudo o mais no seu projeto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O teste dos dez segundos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Faça estas três perguntas sobre qualquer classe do seu projeto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4"/>
          <p:cNvSpPr/>
          <p:nvPr/>
        </p:nvSpPr>
        <p:spPr>
          <a:xfrm>
            <a:off x="658440" y="2121480"/>
            <a:ext cx="3419640" cy="3108600"/>
          </a:xfrm>
          <a:prstGeom prst="roundRect">
            <a:avLst>
              <a:gd name="adj" fmla="val 2353"/>
            </a:avLst>
          </a:prstGeom>
          <a:solidFill>
            <a:srgbClr val="E4F4F2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859680" y="2304360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859680" y="23043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1261800" y="2304360"/>
            <a:ext cx="2614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Existiria no papel?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859680" y="2724840"/>
            <a:ext cx="30171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 a empresa operasse com caderno e caneta, isso continuaria existindo? Um agendamento existiria. Uma contribuição a um objetivo existiria. Um adaptador de lista, não.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4334400" y="2121480"/>
            <a:ext cx="3419640" cy="3108600"/>
          </a:xfrm>
          <a:prstGeom prst="roundRect">
            <a:avLst>
              <a:gd name="adj" fmla="val 2353"/>
            </a:avLst>
          </a:prstGeom>
          <a:solidFill>
            <a:srgbClr val="F2F4F4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0"/>
          <p:cNvSpPr/>
          <p:nvPr/>
        </p:nvSpPr>
        <p:spPr>
          <a:xfrm>
            <a:off x="4535280" y="2304360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4535280" y="23043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4937760" y="2304360"/>
            <a:ext cx="2614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O dono do problema conhece pela palavra?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4535280" y="2724840"/>
            <a:ext cx="30171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 você disser «agendamento», «alojamento» ou «objetivo financeiro» ao solicitante, ele entende. Se disser «repositório», «activity» ou «DTO», não. Domínio fala a língua de quem tem o problema.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4"/>
          <p:cNvSpPr/>
          <p:nvPr/>
        </p:nvSpPr>
        <p:spPr>
          <a:xfrm>
            <a:off x="8010000" y="2121480"/>
            <a:ext cx="3419640" cy="3108600"/>
          </a:xfrm>
          <a:prstGeom prst="roundRect">
            <a:avLst>
              <a:gd name="adj" fmla="val 2353"/>
            </a:avLst>
          </a:prstGeom>
          <a:solidFill>
            <a:srgbClr val="F2F4F4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8211240" y="2304360"/>
            <a:ext cx="310680" cy="310680"/>
          </a:xfrm>
          <a:prstGeom prst="roundRect">
            <a:avLst>
              <a:gd name="adj" fmla="val 17647"/>
            </a:avLst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8211240" y="2304360"/>
            <a:ext cx="310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8613720" y="2304360"/>
            <a:ext cx="2614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Sobreviveria à troca de tecnologia?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8"/>
          <p:cNvSpPr/>
          <p:nvPr/>
        </p:nvSpPr>
        <p:spPr>
          <a:xfrm>
            <a:off x="8211240" y="2724840"/>
            <a:ext cx="30171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 você trocar o banco de dados, a linguagem da tela ou o meio de comunicação, essa classe precisa mudar? Se precisar, ela não é de domínio — ou está contaminada.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Três respostas sim: é classe de domínio. Qualquer não: é outra coisa, e o lugar dela é outro pacote.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A59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0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1"/>
          <p:cNvSpPr/>
          <p:nvPr/>
        </p:nvSpPr>
        <p:spPr>
          <a:xfrm>
            <a:off x="914400" y="233172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FDA1A"/>
                </a:solidFill>
                <a:effectLst/>
                <a:uFillTx/>
                <a:latin typeface="Calibri"/>
                <a:ea typeface="Calibri"/>
              </a:rPr>
              <a:t>O CONTRASTE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914400" y="269748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 mesma coisa, escrita de dois jeitos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914400" y="384048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8F1EE"/>
                </a:solidFill>
                <a:effectLst/>
                <a:uFillTx/>
                <a:latin typeface="Calibri"/>
                <a:ea typeface="Calibri"/>
              </a:rPr>
              <a:t>O primeiro exemplo é o que a maioria escreve. O segundo é classe de domínio.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Antes — isto não é classe de domínio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Reconhece? É o padrão mais comum nos projetos entregues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4"/>
          <p:cNvSpPr/>
          <p:nvPr/>
        </p:nvSpPr>
        <p:spPr>
          <a:xfrm>
            <a:off x="658440" y="2148840"/>
            <a:ext cx="6766200" cy="4141800"/>
          </a:xfrm>
          <a:prstGeom prst="roundRect">
            <a:avLst>
              <a:gd name="adj" fmla="val 1325"/>
            </a:avLst>
          </a:prstGeom>
          <a:solidFill>
            <a:srgbClr val="16302E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868680" y="2313360"/>
            <a:ext cx="6345720" cy="38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class Agendamento {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int id;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String animal;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String data;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int situacao;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void salvar() {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Connection cn = Db.get();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Statement st = cn.createStatement();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st.execute("insert into agendamento values (...)");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void mostrarNaTela(TextView campo) {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campo.setText(animal + " - " + data);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void setSituacao(int s) {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this.situacao = s;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9"/>
              </a:lnSpc>
              <a:tabLst>
                <a:tab pos="0" algn="l"/>
              </a:tabLst>
            </a:pPr>
            <a:r>
              <a:rPr lang="en-US" sz="103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7635240" y="2240280"/>
            <a:ext cx="3885840" cy="39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Atributos públicos: qualquer parte do código altera o objeto sem passar por regra nenhuma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classe sabe gravar no banco — troque o banco e ela quebra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classe sabe desenhar na tela — troque a interface e ela quebra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setSituacao aceita qualquer inteiro, inclusive um que não existe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Não há como testar esta classe sem banco de dados e sem emulador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Funciona. E é exatamente por isso que o problema demora a aparecer.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Depois — agora é classe de domínio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Mesmo problema, mesma funcionalidade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658440" y="2148840"/>
            <a:ext cx="6766200" cy="4141800"/>
          </a:xfrm>
          <a:prstGeom prst="roundRect">
            <a:avLst>
              <a:gd name="adj" fmla="val 1325"/>
            </a:avLst>
          </a:prstGeom>
          <a:solidFill>
            <a:srgbClr val="16302E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68680" y="2313360"/>
            <a:ext cx="6345720" cy="38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class Agendamento {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long id;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long idAnimal;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int  idPosto;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TipoServico servico;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LocalDateTime inicio;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Situacao situacao = Situacao.MARCADO;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Agendamento(long idAnimal, int idPosto,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           TipoServico servico, LocalDateTime inicio) {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if (servico == null)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throw new DadoInvalidoException("Servico obrigatorio");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if (idPosto &lt; 1 || idPosto &gt; 3)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throw new DadoInvalidoException("Posto inexistente");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if (inicio.isBefore(LocalDateTime.now()))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throw new DadoInvalidoException("Data passada");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this.idAnimal = idAnimal;  this.idPosto = idPosto;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this.servico  = servico;   this.inicio  = inicio;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this.id = proximoId++;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public Situacao alterarSituacao(Situacao nova) {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if (!situacao.podeIrPara(nova))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throw new RegraDeNegocioException("Transicao invalida");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Situacao anterior = this.situacao;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this.situacao = nova;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return anterior;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001"/>
              </a:lnSpc>
              <a:tabLst>
                <a:tab pos="0" algn="l"/>
              </a:tabLst>
            </a:pPr>
            <a:r>
              <a:rPr lang="en-US" sz="72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7635240" y="2240280"/>
            <a:ext cx="3885840" cy="39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Atributos privados: ninguém altera por fora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validação está no construtor — o objeto nasce válido ou não nasce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Não existe Connection, não existe TextView, não existe SQL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alterarSituacao substitui o setter e aplica a regra de transição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Esta classe pode ser testada em milissegundos, sem nada instalado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As regras de negócio estão todas aqui, e em nenhum outro lugar do sistema.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O que mora dentro e o que nunca mora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658440" y="1993320"/>
            <a:ext cx="5257440" cy="3885840"/>
          </a:xfrm>
          <a:prstGeom prst="roundRect">
            <a:avLst>
              <a:gd name="adj" fmla="val 1882"/>
            </a:avLst>
          </a:prstGeom>
          <a:solidFill>
            <a:srgbClr val="F2F4F4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"/>
          <p:cNvSpPr/>
          <p:nvPr/>
        </p:nvSpPr>
        <p:spPr>
          <a:xfrm>
            <a:off x="896040" y="2194560"/>
            <a:ext cx="4781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Mora na classe de domínio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896040" y="2706480"/>
            <a:ext cx="47818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Os dados que descrevem a coisa: valor, data, identificador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As regras que dizem o que é válido: faixa, formato, obrigatoriedade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As regras que dizem o que pode acontecer: transições admitidas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Os cálculos próprios da coisa: total, progresso, duração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As comparações com outras do mesmo tipo: sobreposição, conflito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6"/>
          <p:cNvSpPr/>
          <p:nvPr/>
        </p:nvSpPr>
        <p:spPr>
          <a:xfrm>
            <a:off x="6272640" y="1993320"/>
            <a:ext cx="5257440" cy="3885840"/>
          </a:xfrm>
          <a:prstGeom prst="roundRect">
            <a:avLst>
              <a:gd name="adj" fmla="val 1882"/>
            </a:avLst>
          </a:prstGeom>
          <a:solidFill>
            <a:srgbClr val="E4F4F2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6510600" y="2194560"/>
            <a:ext cx="4781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Nunca mora na classe de domínio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6510600" y="2706480"/>
            <a:ext cx="47818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Conexão, comando SQL, nome de tabela ou de coluna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Componente de tela, campo de formulário, evento de botão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Requisição de rede, endereço de serviço, formato de mensagem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Leitura ou escrita de arquivo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Escrita direta no console ou em log de interface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A regra prática: se você precisou importar algo de infraestrutura, a classe deixou de ser de domínio.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Como descobrir quais classes criar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Procedimento mecânico, a partir dos requisitos que você já escreveu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685800" y="2212920"/>
            <a:ext cx="420120" cy="420120"/>
          </a:xfrm>
          <a:prstGeom prst="ellips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5"/>
          <p:cNvSpPr/>
          <p:nvPr/>
        </p:nvSpPr>
        <p:spPr>
          <a:xfrm>
            <a:off x="685800" y="22129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896040" y="2651760"/>
            <a:ext cx="360" cy="457200"/>
          </a:xfrm>
          <a:prstGeom prst="line">
            <a:avLst/>
          </a:prstGeom>
          <a:ln w="254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7"/>
          <p:cNvSpPr/>
          <p:nvPr/>
        </p:nvSpPr>
        <p:spPr>
          <a:xfrm>
            <a:off x="1298520" y="2212920"/>
            <a:ext cx="10149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Sublinhe os substantivos da sua especificação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Leia os requisitos e marque os substantivos que se repetem: agendamento, animal, tutor, alojamento, leitura, objetivo, contribuição.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685800" y="3127320"/>
            <a:ext cx="420120" cy="420120"/>
          </a:xfrm>
          <a:prstGeom prst="ellipse">
            <a:avLst/>
          </a:prstGeom>
          <a:solidFill>
            <a:srgbClr val="00695F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9"/>
          <p:cNvSpPr/>
          <p:nvPr/>
        </p:nvSpPr>
        <p:spPr>
          <a:xfrm>
            <a:off x="685800" y="31273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96040" y="3566160"/>
            <a:ext cx="360" cy="457200"/>
          </a:xfrm>
          <a:prstGeom prst="line">
            <a:avLst/>
          </a:prstGeom>
          <a:ln w="254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1"/>
          <p:cNvSpPr/>
          <p:nvPr/>
        </p:nvSpPr>
        <p:spPr>
          <a:xfrm>
            <a:off x="1298520" y="3127320"/>
            <a:ext cx="10149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Corte o que não é do problema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Tela, botão, relatório, banco e arquivo não pertencem ao domínio. Corte também os sinônimos: cliente e tutor são a mesma coisa? Escolha um.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2"/>
          <p:cNvSpPr/>
          <p:nvPr/>
        </p:nvSpPr>
        <p:spPr>
          <a:xfrm>
            <a:off x="685800" y="4041720"/>
            <a:ext cx="420120" cy="420120"/>
          </a:xfrm>
          <a:prstGeom prst="ellips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3"/>
          <p:cNvSpPr/>
          <p:nvPr/>
        </p:nvSpPr>
        <p:spPr>
          <a:xfrm>
            <a:off x="685800" y="40417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4"/>
          <p:cNvSpPr/>
          <p:nvPr/>
        </p:nvSpPr>
        <p:spPr>
          <a:xfrm>
            <a:off x="896040" y="4480560"/>
            <a:ext cx="360" cy="457200"/>
          </a:xfrm>
          <a:prstGeom prst="line">
            <a:avLst/>
          </a:prstGeom>
          <a:ln w="254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5"/>
          <p:cNvSpPr/>
          <p:nvPr/>
        </p:nvSpPr>
        <p:spPr>
          <a:xfrm>
            <a:off x="1298520" y="4041720"/>
            <a:ext cx="10149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Escreva a frase de responsabilidade de cada um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«Agendamento conhece animal, serviço, posto e instante, e controla as transições de situação admitidas.» Uma frase, sem usar a conjunção «e» para juntar assuntos diferentes.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6"/>
          <p:cNvSpPr/>
          <p:nvPr/>
        </p:nvSpPr>
        <p:spPr>
          <a:xfrm>
            <a:off x="685800" y="4956120"/>
            <a:ext cx="420120" cy="420120"/>
          </a:xfrm>
          <a:prstGeom prst="ellipse">
            <a:avLst/>
          </a:prstGeom>
          <a:solidFill>
            <a:srgbClr val="00695F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7"/>
          <p:cNvSpPr/>
          <p:nvPr/>
        </p:nvSpPr>
        <p:spPr>
          <a:xfrm>
            <a:off x="685800" y="4956120"/>
            <a:ext cx="420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pt-B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8"/>
          <p:cNvSpPr/>
          <p:nvPr/>
        </p:nvSpPr>
        <p:spPr>
          <a:xfrm>
            <a:off x="1298520" y="4956120"/>
            <a:ext cx="10149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Volte aos requisitos e confira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Percorra cada requisito de prioridade alta e pergunte: o modelo permite realizá-lo? Requisito sem classe que o sustente indica classe faltando.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9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Se o substantivo aparece em três requisitos diferentes, quase certamente é classe de domínio.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«Sem setter, como eu altero o objeto?»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A dúvida mais frequente — e a resposta melhora o código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658440" y="2121480"/>
            <a:ext cx="5257440" cy="3885840"/>
          </a:xfrm>
          <a:prstGeom prst="roundRect">
            <a:avLst>
              <a:gd name="adj" fmla="val 1882"/>
            </a:avLst>
          </a:prstGeom>
          <a:solidFill>
            <a:srgbClr val="F2F4F4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896040" y="2322720"/>
            <a:ext cx="4781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Com setter — o que se perde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896040" y="2834640"/>
            <a:ext cx="47818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setSituacao(3) aceita qualquer valor, inclusive um que não existe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Nenhuma regra é aplicada: quem chama decide o que é válido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mesma regra acaba repetida em cada tela que altera o objeto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Quando a regra muda, você precisa achar todos os lugares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nome não diz nada sobre o que está acontecendo no negócio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6272640" y="2121480"/>
            <a:ext cx="5257440" cy="3885840"/>
          </a:xfrm>
          <a:prstGeom prst="roundRect">
            <a:avLst>
              <a:gd name="adj" fmla="val 1882"/>
            </a:avLst>
          </a:prstGeom>
          <a:solidFill>
            <a:srgbClr val="E4F4F2"/>
          </a:solidFill>
          <a:ln w="12700">
            <a:solidFill>
              <a:srgbClr val="D6DE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6510600" y="2322720"/>
            <a:ext cx="4781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Com método que expressa a operação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6510600" y="2834640"/>
            <a:ext cx="47818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alterarSituacao(Situacao.CONCLUIDO) só aceita transição admitida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regra fica em um lugar só, dentro da própria classe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nome conta a história: concluir, cancelar, contribuir, encerrar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Mudou a regra? Muda um método, e todo o sistema obedece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00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método pode devolver o estado anterior, que é o que o desfazer precisa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Atributo que nunca muda depois de criado fica final e não precisa de método nenhum.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A59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914400" y="233172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300" strike="noStrike">
                <a:solidFill>
                  <a:srgbClr val="FFDA1A"/>
                </a:solidFill>
                <a:effectLst/>
                <a:uFillTx/>
                <a:latin typeface="Calibri"/>
                <a:ea typeface="Calibri"/>
              </a:rPr>
              <a:t>A PARTE CONTRAINTUITIVA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914400" y="269748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 que a interface do repositório fica no domínio</a:t>
            </a:r>
            <a:endParaRPr lang="pt-B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"/>
          <p:cNvSpPr/>
          <p:nvPr/>
        </p:nvSpPr>
        <p:spPr>
          <a:xfrm>
            <a:off x="914400" y="384048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D8F1EE"/>
                </a:solidFill>
                <a:effectLst/>
                <a:uFillTx/>
                <a:latin typeface="Calibri"/>
                <a:ea typeface="Calibri"/>
              </a:rPr>
              <a:t>É o que mais rende ponto na avaliação, e o que menos gente acerta.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O domínio declara o que precisa; outra camada realiza</a:t>
            </a:r>
            <a:endParaRPr lang="pt-B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A interface fica junto das regras, não junto do banco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4"/>
          <p:cNvSpPr/>
          <p:nvPr/>
        </p:nvSpPr>
        <p:spPr>
          <a:xfrm>
            <a:off x="658440" y="2148840"/>
            <a:ext cx="6766200" cy="4141800"/>
          </a:xfrm>
          <a:prstGeom prst="roundRect">
            <a:avLst>
              <a:gd name="adj" fmla="val 1325"/>
            </a:avLst>
          </a:prstGeom>
          <a:solidFill>
            <a:srgbClr val="16302E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868680" y="2313360"/>
            <a:ext cx="6345720" cy="38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// PACOTE dominio — a interface mora AQUI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interface RepositorioAgendamento {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boolean gravar(Agendamento a);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List&lt;Agendamento&gt; buscarPorData(LocalDate data);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// PACOTE persistencia — a implementacao mora LA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class RepositorioAgendamentoLocal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implements RepositorioAgendamento {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// aqui sim: SQL, arquivo, servico remoto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// PACOTE persistencia — outra implementacao, para teste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class RepositorioAgendamentoMemoria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implements RepositorioAgendamento {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private final List&lt;Agendamento&gt; dados = new ArrayList&lt;&gt;();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"/>
          <p:cNvSpPr/>
          <p:nvPr/>
        </p:nvSpPr>
        <p:spPr>
          <a:xfrm>
            <a:off x="7635240" y="2240280"/>
            <a:ext cx="3885840" cy="39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domínio diz «eu preciso gravar e buscar», sem dizer onde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Quem decide o onde é a camada de fora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Trocar o banco significa escrever outra implementação — o domínio não muda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 implementação em memória existe só para os testes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É por isso que a seta da dependência aponta para o domínio, e não a partir dele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Se a interface estiver no pacote de persistência, a dependência inverteu e o critério C11 não passa.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O que isso te dá na prática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3"/>
          <p:cNvSpPr/>
          <p:nvPr/>
        </p:nvSpPr>
        <p:spPr>
          <a:xfrm>
            <a:off x="1691640" y="1389960"/>
            <a:ext cx="85035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Este teste roda em milissegundos, sem banco, sem rede e sem emulador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"/>
          <p:cNvSpPr/>
          <p:nvPr/>
        </p:nvSpPr>
        <p:spPr>
          <a:xfrm>
            <a:off x="658440" y="2148840"/>
            <a:ext cx="6766200" cy="4141800"/>
          </a:xfrm>
          <a:prstGeom prst="roundRect">
            <a:avLst>
              <a:gd name="adj" fmla="val 1325"/>
            </a:avLst>
          </a:prstGeom>
          <a:solidFill>
            <a:srgbClr val="16302E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868680" y="2313360"/>
            <a:ext cx="6345720" cy="38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@Test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void agendamentoSobrepostoNoMesmoPostoEhRejeitado() {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RepositorioAgendamento repo =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    new RepositorioAgendamentoMemoria();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ServicoAtendimento servico = new ServicoAtendimento(repo);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servico.agendar(1L, 1, TipoServico.BANHO, amanha(9, 0));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assertThrows(RegraDeNegocioException.class, () -&gt;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servico.agendar(2L, 1, TipoServico.TOSA, amanha(9, 30)));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@Test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public void dataPassadaEhRejeitada() {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assertThrows(DadoInvalidoException.class, () -&gt;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        new Agendamento(1L, 1, TipoServico.BANHO, ontem()));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99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4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7635240" y="2240280"/>
            <a:ext cx="3885840" cy="39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Nenhum banco instalado, nenhum emulador aberto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Executa em milissegundos, então você roda a cada alteração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O primeiro teste verifica uma regra de negócio; o segundo, uma validação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Isto é o critério C12 da avaliação, o que melhor prevê quem termina o semestre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333333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Quem não separa o domínio não consegue escrever nenhum destes dois testes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7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Toda a arquitetura em camadas existe para tornar este slide possível.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Os cinco erros mais comuns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3"/>
          <p:cNvSpPr/>
          <p:nvPr/>
        </p:nvSpPr>
        <p:spPr>
          <a:xfrm>
            <a:off x="713160" y="202068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"/>
          <p:cNvSpPr/>
          <p:nvPr/>
        </p:nvSpPr>
        <p:spPr>
          <a:xfrm>
            <a:off x="960120" y="193860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A classe de domínio grava no banco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Sintoma: existe um método salvar dentro da entidade. Correção: o serviço chama o repositório; a entidade não sabe onde é gravada.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5"/>
          <p:cNvSpPr/>
          <p:nvPr/>
        </p:nvSpPr>
        <p:spPr>
          <a:xfrm>
            <a:off x="713160" y="28674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6"/>
          <p:cNvSpPr/>
          <p:nvPr/>
        </p:nvSpPr>
        <p:spPr>
          <a:xfrm>
            <a:off x="960120" y="278532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A validação está na tela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Sintoma: o if que verifica a faixa está no evento do botão. Correção: mova para o construtor. A tela apenas mostra a mensagem do erro.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7"/>
          <p:cNvSpPr/>
          <p:nvPr/>
        </p:nvSpPr>
        <p:spPr>
          <a:xfrm>
            <a:off x="713160" y="37141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8"/>
          <p:cNvSpPr/>
          <p:nvPr/>
        </p:nvSpPr>
        <p:spPr>
          <a:xfrm>
            <a:off x="960120" y="363204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Atributos públicos ou com setter para tudo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Sintoma: qualquer parte do código altera o objeto. Correção: privados e finais; métodos que expressam a operação do negócio.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9"/>
          <p:cNvSpPr/>
          <p:nvPr/>
        </p:nvSpPr>
        <p:spPr>
          <a:xfrm>
            <a:off x="713160" y="45612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0"/>
          <p:cNvSpPr/>
          <p:nvPr/>
        </p:nvSpPr>
        <p:spPr>
          <a:xfrm>
            <a:off x="960120" y="447876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Classes derivadas das telas, não dos requisitos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Sintoma: existe uma classe TelaCadastroDados no pacote de domínio. Correção: refaça o procedimento dos quatro passos.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1"/>
          <p:cNvSpPr/>
          <p:nvPr/>
        </p:nvSpPr>
        <p:spPr>
          <a:xfrm>
            <a:off x="713160" y="54079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2"/>
          <p:cNvSpPr/>
          <p:nvPr/>
        </p:nvSpPr>
        <p:spPr>
          <a:xfrm>
            <a:off x="960120" y="532548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A interface do repositório no pacote de persistência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Sintoma: o domínio importa algo de persistência. Correção: mova a interface para o domínio — só o arquivo muda de pasta.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3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Os cinco são verificados na avaliação: erros 1, 2 e 3 no C10 e C12; o erro 4 no C9; o erro 5 no C11.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 rot="5400000">
            <a:off x="0" y="0"/>
            <a:ext cx="2514240" cy="2514240"/>
          </a:xfrm>
          <a:prstGeom prst="rtTriangle">
            <a:avLst/>
          </a:prstGeom>
          <a:solidFill>
            <a:srgbClr val="00A59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"/>
          <p:cNvSpPr/>
          <p:nvPr/>
        </p:nvSpPr>
        <p:spPr>
          <a:xfrm rot="10800000">
            <a:off x="9391320" y="0"/>
            <a:ext cx="2806920" cy="2806920"/>
          </a:xfrm>
          <a:prstGeom prst="rtTriangle">
            <a:avLst/>
          </a:prstGeom>
          <a:solidFill>
            <a:srgbClr val="FFDA1A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" name="Image 0" descr="/home/claude/work/build/assets/passaro.png"/>
          <p:cNvPicPr/>
          <p:nvPr/>
        </p:nvPicPr>
        <p:blipFill>
          <a:blip r:embed="rId1"/>
          <a:stretch/>
        </p:blipFill>
        <p:spPr>
          <a:xfrm>
            <a:off x="10954440" y="612720"/>
            <a:ext cx="66456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7" name="Text 2"/>
          <p:cNvSpPr/>
          <p:nvPr/>
        </p:nvSpPr>
        <p:spPr>
          <a:xfrm>
            <a:off x="1691640" y="749880"/>
            <a:ext cx="85035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00A59A"/>
                </a:solidFill>
                <a:effectLst/>
                <a:uFillTx/>
                <a:latin typeface="Calibri"/>
                <a:ea typeface="Calibri"/>
              </a:rPr>
              <a:t>Exercício para fazer agora, com o projeto aberto</a:t>
            </a:r>
            <a:endParaRPr lang="pt-B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713160" y="202068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960120" y="193860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Aplique o teste dos dez segundos em três classes suas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Existiria no papel? O solicitante conhece pela palavra? Sobreviveria à troca de tecnologia?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713160" y="28674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960120" y="278532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Procure importações proibidas no seu pacote de domínio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Persistência, rede, interface, SQL. Se encontrar, você achou o trabalho da semana.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7"/>
          <p:cNvSpPr/>
          <p:nvPr/>
        </p:nvSpPr>
        <p:spPr>
          <a:xfrm>
            <a:off x="713160" y="37141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8"/>
          <p:cNvSpPr/>
          <p:nvPr/>
        </p:nvSpPr>
        <p:spPr>
          <a:xfrm>
            <a:off x="960120" y="363204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Escreva a frase de responsabilidade de uma classe sua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Uma frase, sem juntar assuntos diferentes com a conjunção «e». Se não conseguir, a classe faz demais.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9"/>
          <p:cNvSpPr/>
          <p:nvPr/>
        </p:nvSpPr>
        <p:spPr>
          <a:xfrm>
            <a:off x="713160" y="456120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960120" y="447876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Escolha uma validação que está na tela e mova para o construtor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Comece por uma só. Depois de ver funcionando, as outras saem rápido.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713160" y="5407920"/>
            <a:ext cx="109440" cy="109440"/>
          </a:xfrm>
          <a:prstGeom prst="rect">
            <a:avLst/>
          </a:prstGeom>
          <a:solidFill>
            <a:srgbClr val="FFC000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960120" y="5325480"/>
            <a:ext cx="1051524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0695F"/>
                </a:solidFill>
                <a:effectLst/>
                <a:uFillTx/>
                <a:latin typeface="Calibri"/>
                <a:ea typeface="Calibri"/>
              </a:rPr>
              <a:t>Escreva um teste da regra que você acabou de mover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Sem banco, sem rede, sem emulador. Se conseguir, o C12 está encaminhado.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548640" y="641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5A5A"/>
                </a:solidFill>
                <a:effectLst/>
                <a:uFillTx/>
                <a:latin typeface="Calibri"/>
                <a:ea typeface="Calibri"/>
              </a:rPr>
              <a:t>Quem terminar os cinco passos hoje resolve o bloco de arquitetura da avaliação.</a:t>
            </a:r>
            <a:endParaRPr lang="pt-B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D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Image 0" descr="/home/claude/work/build/assets/logo_uniasselvi.png"/>
          <p:cNvPicPr/>
          <p:nvPr/>
        </p:nvPicPr>
        <p:blipFill>
          <a:blip r:embed="rId1"/>
          <a:stretch/>
        </p:blipFill>
        <p:spPr>
          <a:xfrm>
            <a:off x="4718160" y="2057400"/>
            <a:ext cx="2742840" cy="195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Text 0"/>
          <p:cNvSpPr/>
          <p:nvPr/>
        </p:nvSpPr>
        <p:spPr>
          <a:xfrm>
            <a:off x="1371600" y="4251960"/>
            <a:ext cx="9445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A1A1A"/>
                </a:solidFill>
                <a:effectLst/>
                <a:uFillTx/>
                <a:latin typeface="Calibri"/>
                <a:ea typeface="Calibri"/>
              </a:rPr>
              <a:t>Classe de domínio, em uma frase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1371600" y="4800600"/>
            <a:ext cx="9445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A3A3A"/>
                </a:solidFill>
                <a:effectLst/>
                <a:uFillTx/>
                <a:latin typeface="Calibri"/>
                <a:ea typeface="Calibri"/>
              </a:rPr>
              <a:t>É o que existiria mesmo sem computador — com as regras dentro, e nada de infraestrutura.</a:t>
            </a:r>
            <a:endParaRPr lang="pt-B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LibreOffice/26.2.5.2$Linux_X86_64 LibreOffice_project/620$Build-2</Application>
  <AppVersion>15.0000</AppVersion>
  <Words>0</Words>
  <Paragraphs>0</Paragraphs>
  <Company>UNIASSELVI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2026-09-23T22:54:38Z</dcterms:created>
  <dc:creator>Evaldo A. Oliveira</dc:creator>
  <dc:description/>
  <dc:language>pt-BR</dc:language>
  <cp:lastModifiedBy/>
  <dcterms:modified xsi:type="dcterms:W3CDTF">2026-09-23T20:07:27Z</dcterms:modified>
  <cp:revision>2</cp:revision>
  <dc:subject>PptxGenJS Presentation</dc:subject>
  <dc:title>Classe de domínio — explicação objetiva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