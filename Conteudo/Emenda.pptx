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276EBF-9223-4B60-9419-2CFE68D5B57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Aula inaugural. Apresentar-se, apresentar a disciplina como momento pedagógico interdisciplinar e deixar claro desde já que o produto final é um software vinculado ao TCC. Reservar 15 minutos iniciais para que cada estudante diga em uma frase qual é a ideia de TCC que traz.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E5CA1-DEF2-4036-95F1-507ABE47B7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Apresentar os quatro objetivos e informar que ao final da aula cada equipe já terá um rascunho de termo de abertura do projeto.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774AE0-4B0A-475E-B467-12E731652A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Deixe o roteiro visível. Ele se repete em todas as aulas e ajuda a turma a se organizar.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C1501-27BA-4EE3-96D5-B286BF235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Marcar a diferença: aqui não se aprende uma tecnologia nova do zero, aqui se articula o que já foi aprendido.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13B454-DB6B-4369-B4CB-538370892C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Ler a ementa em voz alta com a turma, frase a frase. Muitos estudantes chegam sem ter lido o plano de ensino.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2BFBBE-91E2-4FD5-919D-44187DB2E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Peça que a turma identifique em quais desses eixos se sente mais insegura. Isso orienta o reforço nas aulas 3 a 5.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9DAB6F-B3F2-4485-85CD-1FAE08196F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Repita esse critério ao longo do semestre. Ele reduz a ansiedade e organiza a prioridade das equipes.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6F71FE-CFE4-4F18-BD06-E39A17F6F8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Transição: sair do 'o que é a disciplina' para 'como começamos formalmente'.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EC8D9C-84EE-4B33-AAB8-6F84F20712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Analogia útil: o termo de referência está para o projeto assim como o contrato está para a obra. Ninguém constrói sem projeto aprovado.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3BC863-D7BD-4F7D-8470-797D00CFDF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Percorra a coluna de erros comuns: é ali que a turma se reconhece.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4B0A36-FEA5-4CC5-B684-369321C5AD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Muitos alunos tratam TCC e software como trabalhos separados. Corrigir isso agora poupa retrabalho.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4B5C57-E75B-46AC-8EB4-541EB5BB7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Peça que cada equipe classifique a própria ideia nas duas colunas. É um diagnóstico rápido e honesto.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F07E63-9859-4797-BA8C-4093BC34E5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Reforce que as entregas parciais são cumulativas: o trabalho final é a soma delas, não um esforço isolado no fim.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A7F7FF-2D35-4676-89F8-DC8F4FCB09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Deixe claro que a defesa final ocorre na Aula 14 e que a ausência nessa data compromete 20% da nota.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712156-AA57-45C9-A252-786D90A102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Circule pelas equipes durante o laboratório. O erro mais frequente é o objetivo com mais de um verbo.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6203A6-8D28-4F91-9EFA-58A07DE774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referências desta aula sustentam a visão geral do produto; o aprofundamento ocorre nas aulas específicas.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BAD75E-8930-4768-9493-CD7454DB5D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D811D8-6EF8-473A-AB2E-E0489DEE0F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rot="5400000">
            <a:off x="0" y="0"/>
            <a:ext cx="4479840" cy="447984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 rot="10800000">
            <a:off x="9117360" y="720"/>
            <a:ext cx="3080880" cy="3080880"/>
          </a:xfrm>
          <a:prstGeom prst="rtTriangle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1" descr="/home/claude/work/build/assets/logo_uniasselvi.png"/>
          <p:cNvPicPr/>
          <p:nvPr/>
        </p:nvPicPr>
        <p:blipFill>
          <a:blip r:embed="rId2"/>
          <a:stretch/>
        </p:blipFill>
        <p:spPr>
          <a:xfrm>
            <a:off x="8961120" y="4507920"/>
            <a:ext cx="2212200" cy="157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2"/>
          <p:cNvSpPr/>
          <p:nvPr/>
        </p:nvSpPr>
        <p:spPr>
          <a:xfrm>
            <a:off x="567000" y="422460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Engenharia de Software — 7º período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67000" y="4617720"/>
            <a:ext cx="7863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Experiência Profissional: Desenvolvimento de Aplicações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67000" y="5559480"/>
            <a:ext cx="7863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Aula 01 — A disciplina, o termo de referência e o produto de software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Professor: Evaldo A. Oliveira 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Objetivos desta aula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960120" y="1938600"/>
            <a:ext cx="1051488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Compreender a natureza da disciplina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Reconhecer a Experiência Profissional como momento pedagógico interdisciplinar de contextualização dos conteúdos teóricos e práticos já cursados no módulo.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713160" y="29808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960120" y="2898720"/>
            <a:ext cx="1051488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Entender o papel do termo de referência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Identificar o termo de referência como documento que delimita necessidade, escopo, produtos esperados e critérios de aceitação do software.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713160" y="3940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960120" y="3858840"/>
            <a:ext cx="1051488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Relacionar TCC e produto de software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Posicionar a aplicação a ser desenvolvida como artefato vinculado à entrega do Trabalho de Conclusão de Curso.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713160" y="490104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960120" y="4818960"/>
            <a:ext cx="1051488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Planejar a trajetória das aulas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Conhecer o cronograma, os pontos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 entrega parciais e o sistema de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avaliação da disciplina.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Como usaremos as aulas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658440" y="1993320"/>
            <a:ext cx="2500200" cy="3016800"/>
          </a:xfrm>
          <a:prstGeom prst="roundRect">
            <a:avLst>
              <a:gd name="adj" fmla="val 2925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85968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85968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1261800" y="2176200"/>
            <a:ext cx="1695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Bloco 1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59680" y="2597040"/>
            <a:ext cx="2097720" cy="22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Abertura, apresentação da disciplina, da ementa e do contrato pedagógico. Rodada de apresentação das ideias de TCC.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3415320" y="1993320"/>
            <a:ext cx="2500200" cy="3016800"/>
          </a:xfrm>
          <a:prstGeom prst="roundRect">
            <a:avLst>
              <a:gd name="adj" fmla="val 2925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361656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361656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4018680" y="2176200"/>
            <a:ext cx="1695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Bloco 2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3616560" y="2597040"/>
            <a:ext cx="2097720" cy="22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Termo de referência: definição, finalidade, estrutura mínima e leitura crítica de um termo bem escrito.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6172200" y="1993320"/>
            <a:ext cx="2500200" cy="3016800"/>
          </a:xfrm>
          <a:prstGeom prst="roundRect">
            <a:avLst>
              <a:gd name="adj" fmla="val 2925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637344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637344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6775560" y="2176200"/>
            <a:ext cx="1695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Bloco 3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373440" y="2597040"/>
            <a:ext cx="2097720" cy="22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Do TCC ao software: escopo, delimitação, produtos entregáveis e trajetória da disciplina.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8929080" y="1993320"/>
            <a:ext cx="2500200" cy="3016800"/>
          </a:xfrm>
          <a:prstGeom prst="roundRect">
            <a:avLst>
              <a:gd name="adj" fmla="val 2925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913032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913032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9532800" y="2176200"/>
            <a:ext cx="1695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Bloco 4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9130320" y="2597040"/>
            <a:ext cx="2097720" cy="22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Laboratório: redação do termo de abertura do projeto em equipe e socialização dos resultados.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1"/>
          <p:cNvSpPr/>
          <p:nvPr/>
        </p:nvSpPr>
        <p:spPr>
          <a:xfrm>
            <a:off x="914400" y="2331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BLOCO 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914400" y="26974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que é a Experiência Profissional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914400" y="384048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Uma disciplina que não introduz conteúdo novo isolado: ela integra o que já foi estudado em um produto real.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A ementa, lida com atenção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960120" y="193860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Momento pedagógico interdisciplinar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disciplina reúne, em um único espaço, conteúdos que foram tratados separadamente ao longo do módulo — programação, estruturas de dados, orientação a objetos, dispositivos móveis e eletrônica embarcada.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713160" y="28674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960120" y="278532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Contextualização de conteúdos </a:t>
            </a: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teóricos e práticos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Teoria e prática são retomadas a partir 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 um problema concreto: não se 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estuda para provar conhecimento, 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estuda-se para resolver a necessidade 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descrita no termo de referência.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713160" y="37141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960120" y="363204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Base nos termos de referência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termo de referência é o ponto de partida formal. Ele define o problema, os limites e os critérios de aceitação do que será construído.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713160" y="45612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960120" y="447876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Software vinculado à entrega do TCC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artefato desenvolvido aqui é o mesmo que sustenta o Trabalho de Conclusão de Curso — não é um exercício descartável.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713160" y="5407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960120" y="532548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Projetos e ações ligadas à prática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avaliação recai sobre entregas verificáveis: código funcionando, documentação, demonstração e defesa.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Conhecimentos do módulo que serão mobilizados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658440" y="199332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85968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85968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1261800" y="217620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Lógica e programação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859680" y="259704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Estruturas de controle, modularização, tipos de dados e boas práticas de codificação. Base para qualquer produto de software.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4334400" y="199332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53528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453528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4937760" y="217620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Estruturas de dados e algoritmos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4535280" y="259704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Escolha de estruturas adequadas, custo das operações e critérios de eficiência aplicados às funcionalidades do projeto.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8010000" y="199332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8211240" y="217620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8211240" y="2176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8613720" y="217620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Orientação a objetos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8211240" y="259704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Classes, encapsulamento, herança, interfaces e coleções como forma de organizar o domínio da aplicação.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658440" y="423360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859680" y="441648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859680" y="4416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1261800" y="441648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Dispositivos móveis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859680" y="483732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Plataforma Android, ciclo de vida das telas, interface do usuário, persistência local e consumo de serviços.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3"/>
          <p:cNvSpPr/>
          <p:nvPr/>
        </p:nvSpPr>
        <p:spPr>
          <a:xfrm>
            <a:off x="4334400" y="423360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4"/>
          <p:cNvSpPr/>
          <p:nvPr/>
        </p:nvSpPr>
        <p:spPr>
          <a:xfrm>
            <a:off x="4535280" y="441648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4535280" y="4416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4937760" y="441648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Eletrônica e sistemas embarcados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4535280" y="483732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Arduino, sensores, atuadores e comunicação entre o mundo físico e a aplicação.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8"/>
          <p:cNvSpPr/>
          <p:nvPr/>
        </p:nvSpPr>
        <p:spPr>
          <a:xfrm>
            <a:off x="8010000" y="4233600"/>
            <a:ext cx="3419280" cy="1983600"/>
          </a:xfrm>
          <a:prstGeom prst="roundRect">
            <a:avLst>
              <a:gd name="adj" fmla="val 3687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9"/>
          <p:cNvSpPr/>
          <p:nvPr/>
        </p:nvSpPr>
        <p:spPr>
          <a:xfrm>
            <a:off x="8211240" y="441648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8211240" y="4416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1"/>
          <p:cNvSpPr/>
          <p:nvPr/>
        </p:nvSpPr>
        <p:spPr>
          <a:xfrm>
            <a:off x="8613720" y="441648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Engenharia de requisitos e qualidade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2"/>
          <p:cNvSpPr/>
          <p:nvPr/>
        </p:nvSpPr>
        <p:spPr>
          <a:xfrm>
            <a:off x="8211240" y="4837320"/>
            <a:ext cx="301680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Levantamento, especificação, rastreabilidade, testes e documentação técnica do produto.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As referências completas de cada eixo estão no plano de ensino e no último slide de cada aula.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"/>
          <p:cNvSpPr/>
          <p:nvPr/>
        </p:nvSpPr>
        <p:spPr>
          <a:xfrm>
            <a:off x="1005840" y="19659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PONTO-CHAVE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1005840" y="2377440"/>
            <a:ext cx="96919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Nesta disciplina, o critério de sucesso não é ter estudado o assunto: é ter entregue um software que atende ao que o termo de referência pediu.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1005840" y="466344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BD8D2"/>
                </a:solidFill>
                <a:effectLst/>
                <a:uFillTx/>
                <a:latin typeface="Calibri"/>
                <a:ea typeface="Calibri"/>
              </a:rPr>
              <a:t>Decorre diretamente da ementa da disciplina e do vínculo com a entrega do TCC.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"/>
          <p:cNvSpPr/>
          <p:nvPr/>
        </p:nvSpPr>
        <p:spPr>
          <a:xfrm>
            <a:off x="914400" y="2331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BLOCO 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914400" y="26974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termo de referência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914400" y="384048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O documento que transforma uma ideia vaga em um compromisso verificável.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Para que serve um </a:t>
            </a: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termo de </a:t>
            </a: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referência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960120" y="193860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Delimita a necessidade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Descreve o problema real a ser resolvido e o contexto em que ele ocorre, antes de qualquer decisão tecnológica.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713160" y="28674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960120" y="278532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Define o objeto e o escopo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Diz o que será entregue e, com igual importância, o que não será entregue — evitando a expansão descontrolada do projeto.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713160" y="37141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960120" y="363204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Estabelece produtos e prazos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Lista os entregáveis, seus formatos e as datas em que devem ser apresentados.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713160" y="45612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960120" y="447876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Fixa critérios de aceitação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Determina como se verifica objetivamente se o produto atende ao pedido. Sem esse item, a avaliação vira opinião.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713160" y="5407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960120" y="532548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Serve de referência para mudanças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Toda alteração posterior é comparada ao termo original: o que mudou, por quê e qual o impacto em prazo e esforço.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Estrutura mínima que adotaremos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Table 0"/>
          <p:cNvGraphicFramePr/>
          <p:nvPr/>
        </p:nvGraphicFramePr>
        <p:xfrm>
          <a:off x="658440" y="2011680"/>
          <a:ext cx="1088100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4663440"/>
                <a:gridCol w="3291840"/>
              </a:tblGrid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Seção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precisa conter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Erro comum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Contexto e justificativa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Quem sofre o problema, com que frequência e qual o prejuízo atual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Começar pela tecnologia escolhida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Objetivo do software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Uma frase única, verificável, sem adjetivos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Objetivo com vários verbos e sem medida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Escopo incluído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Lista numerada de funcionalidades previstas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Lista genérica do tipo 'gestão completa'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Escopo excluído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ficará fora desta versão e por quê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Seção ausente — origem de conflito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Produtos entregáveis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Aplicação, código-fonte, documentação, roteiro de testes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Prometer apenas 'o sistema'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Critérios de aceitação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Condições objetivas de verificação por entregável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Critérios subjetivos ('ser intuitivo')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Restrições e premissas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Prazo, equipamentos, licenças, acesso a dados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Ignorar limitações de hardware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Text 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Este modelo será usado como base da Atividade 1 e retomado na Aula 2.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"/>
          <p:cNvSpPr/>
          <p:nvPr/>
        </p:nvSpPr>
        <p:spPr>
          <a:xfrm>
            <a:off x="914400" y="2331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BLOCO 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914400" y="26974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 TCC ao produto de software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914400" y="384048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Como a monografia e a aplicação se </a:t>
            </a:r>
            <a:r>
              <a:rPr lang="en-US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sustentam mutuamente.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Escopo: o que entra e o que fica de fora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658440" y="199332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896040" y="219456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Sinais de escopo bem delimitado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896040" y="270648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Cada funcionalidade prevista pode ser demonstrada em tela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objetivo cabe em uma frase e admite verificação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Existe lista explícita do que não será feito nesta versão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As restrições de prazo e de equipamento estão declaradas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Cada entregável tem um critério de aceitação correspondente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6272640" y="199332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E4F4F2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6510600" y="219456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Sinais de escopo em risco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6510600" y="270648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Expressões como 'sistema completo' </a:t>
            </a: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ou 'totalmente integrado'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Funcionalidades que dependem de </a:t>
            </a: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dados que a equipe não possui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Tecnologia escolhida antes de o </a:t>
            </a: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problema estar descrito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Ausência de qualquer item na lista </a:t>
            </a: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 exclusões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Entregas concentradas todas na </a:t>
            </a: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última semana do semestre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Trajetória da disciplina nas aulas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685800" y="2084760"/>
            <a:ext cx="419760" cy="419760"/>
          </a:xfrm>
          <a:prstGeom prst="ellips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685800" y="20847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896040" y="2523600"/>
            <a:ext cx="360" cy="37296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1298520" y="2084760"/>
            <a:ext cx="101491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Aulas 1 e 2 — Definição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Termo de referência, levantamento e especificação de requisitos do projeto.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685800" y="2915280"/>
            <a:ext cx="419760" cy="419760"/>
          </a:xfrm>
          <a:prstGeom prst="ellipse">
            <a:avLst/>
          </a:prstGeom>
          <a:solidFill>
            <a:srgbClr val="00695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685800" y="291528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896040" y="3353760"/>
            <a:ext cx="360" cy="37332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1298520" y="2915280"/>
            <a:ext cx="101491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Aulas 3 a 5 — Fundamentos revisitados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Lógica e qualidade de código, estruturas de dados e algoritmos, orientação a objetos em Java.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685800" y="3745440"/>
            <a:ext cx="419760" cy="419760"/>
          </a:xfrm>
          <a:prstGeom prst="ellips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685800" y="3745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896040" y="4184280"/>
            <a:ext cx="360" cy="37296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1298520" y="3745440"/>
            <a:ext cx="101491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Aulas 6 a 9 — Aplicação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Arquitetura em camadas e desenvolvimento para dispositivos móveis: interface, persistência e serviços.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"/>
          <p:cNvSpPr/>
          <p:nvPr/>
        </p:nvSpPr>
        <p:spPr>
          <a:xfrm>
            <a:off x="685800" y="4575600"/>
            <a:ext cx="419760" cy="419760"/>
          </a:xfrm>
          <a:prstGeom prst="ellipse">
            <a:avLst/>
          </a:prstGeom>
          <a:solidFill>
            <a:srgbClr val="00695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685800" y="45756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896040" y="5014440"/>
            <a:ext cx="360" cy="37296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1298520" y="4575600"/>
            <a:ext cx="101491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Aulas 10 e 11 — Integração física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Arduino, sensores e atuadores; comunicação entre a placa e a aplicação móvel.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685800" y="5405760"/>
            <a:ext cx="419760" cy="419760"/>
          </a:xfrm>
          <a:prstGeom prst="ellips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685800" y="54057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1298520" y="5405760"/>
            <a:ext cx="1014912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Aulas 12 a 14 — Fechamento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Testes e qualidade, implantação e documentação, apresentação e defesa do projeto.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Cada bloco possui uma entrega parcial obrigatória, descrita </a:t>
            </a:r>
            <a:r>
              <a:rPr lang="en-US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no plano de ensino.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Como a disciplina será avaliada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le 0"/>
          <p:cNvGraphicFramePr/>
          <p:nvPr/>
        </p:nvGraphicFramePr>
        <p:xfrm>
          <a:off x="658440" y="2011680"/>
          <a:ext cx="10881000" cy="254484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5577840"/>
              </a:tblGrid>
              <a:tr h="50292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Instrumento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Peso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se avalia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00A59A"/>
                    </a:solidFill>
                  </a:tcPr>
                </a:tc>
              </a:tr>
              <a:tr h="50292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Entregas parciais do projeto (E1 a E4)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Cumprimento do termo de referência, qualidade técnica e evolução entre as entregas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Atividades práticas de laboratório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Participação, execução dos roteiros e resolução dos exercícios propostos em aula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</a:tr>
              <a:tr h="50292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Avaliação escrita individual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Domínio conceitual dos fundamentos revisitados nas aulas 3 a 11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Apresentação e defesa final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Demonstração funcional, clareza técnica e resposta às arguições da banca simulada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solidFill>
                        <a:srgbClr val="D6DEDD"/>
                      </a:solidFill>
                      <a:prstDash val="solid"/>
                    </a:lnL>
                    <a:lnR w="12240">
                      <a:solidFill>
                        <a:srgbClr val="D6DEDD"/>
                      </a:solidFill>
                      <a:prstDash val="solid"/>
                    </a:lnR>
                    <a:lnT w="12240">
                      <a:solidFill>
                        <a:srgbClr val="D6DEDD"/>
                      </a:solidFill>
                      <a:prstDash val="solid"/>
                    </a:lnT>
                    <a:lnB w="12240">
                      <a:solidFill>
                        <a:srgbClr val="D6DEDD"/>
                      </a:solidFill>
                      <a:prstDash val="solid"/>
                    </a:lnB>
                    <a:solidFill>
                      <a:srgbClr val="F2F4F4"/>
                    </a:solidFill>
                  </a:tcPr>
                </a:tc>
              </a:tr>
            </a:tbl>
          </a:graphicData>
        </a:graphic>
      </p:graphicFrame>
      <p:sp>
        <p:nvSpPr>
          <p:cNvPr id="181" name="Text 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Detalhamento, rubricas e prazos constam no documento de Avaliações e Rubricas da disciplina.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Atividade 1 — Termo de abertura do projeto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Laboratório do Bloco 4 — trabalho em equipe (2 a 4 integrantes)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658440" y="2057400"/>
            <a:ext cx="6811560" cy="4159800"/>
          </a:xfrm>
          <a:prstGeom prst="roundRect">
            <a:avLst>
              <a:gd name="adj" fmla="val 1758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896040" y="2240280"/>
            <a:ext cx="6308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O QUE FAZER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896040" y="2587680"/>
            <a:ext cx="63086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Escrever o contexto e a justificativa do problema em até 10 linhas.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Redigir o objetivo do software em uma única frase verificável.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Listar de 5 a 8 funcionalidades no escopo incluído.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Listar ao menos 3 itens no escopo excluído desta versão.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Declarar restrições conhecidas: prazo, equipamentos, acesso a dados.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Apresentar o resultado em 3 minutos para a turma.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7680960" y="2057400"/>
            <a:ext cx="3839760" cy="1965240"/>
          </a:xfrm>
          <a:prstGeom prst="roundRect">
            <a:avLst>
              <a:gd name="adj" fmla="val 3721"/>
            </a:avLst>
          </a:prstGeom>
          <a:solidFill>
            <a:srgbClr val="E4F4F2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7900560" y="2221920"/>
            <a:ext cx="338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ENTREGA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7900560" y="2551320"/>
            <a:ext cx="33825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Documento de 1 a 2 páginas, em PDF, nomeado TA_&lt;NomeCompleto&gt;.pdf, enviado até o início da Aula 2.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7680960" y="4251960"/>
            <a:ext cx="3839760" cy="1965240"/>
          </a:xfrm>
          <a:prstGeom prst="roundRect">
            <a:avLst>
              <a:gd name="adj" fmla="val 3721"/>
            </a:avLst>
          </a:prstGeom>
          <a:solidFill>
            <a:srgbClr val="16302E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7900560" y="4416480"/>
            <a:ext cx="338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CRITÉRIOS DE AVALIAÇÃO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7900560" y="4745880"/>
            <a:ext cx="33825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8F4F2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F4F2"/>
                </a:solidFill>
                <a:effectLst/>
                <a:uFillTx/>
                <a:latin typeface="Calibri"/>
                <a:ea typeface="Calibri"/>
              </a:rPr>
              <a:t>Objetivo único e verificável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8F4F2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F4F2"/>
                </a:solidFill>
                <a:effectLst/>
                <a:uFillTx/>
                <a:latin typeface="Calibri"/>
                <a:ea typeface="Calibri"/>
              </a:rPr>
              <a:t>Escopo incluído e excluído coerentes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8F4F2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F4F2"/>
                </a:solidFill>
                <a:effectLst/>
                <a:uFillTx/>
                <a:latin typeface="Calibri"/>
                <a:ea typeface="Calibri"/>
              </a:rPr>
              <a:t>Restrições declaradas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8F4F2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F4F2"/>
                </a:solidFill>
                <a:effectLst/>
                <a:uFillTx/>
                <a:latin typeface="Calibri"/>
                <a:ea typeface="Calibri"/>
              </a:rPr>
              <a:t>Clareza e correção da redação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Referências da aula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Todas as fontes constam da bibliografia oficial da disciplina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713160" y="2194560"/>
            <a:ext cx="1078920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OLIVEIRA, Diego Bittencourt de; SILVA, Fabrício Machado da; PASSOS, Ubiratan R. Cardoso et al. Desenvolvimento para dispositivos móveis. Porto Alegre: SAGAH, 2019.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DEITEL, Paul; DEITEL, Harvey; WALD, Alexander. Android 6 para Programadores. Porto Alegre: Bookman, 2016.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OLIVEIRA, Cláudio Luís Vieira; ZANETTI, Humberto Augusto Piovesana. Arduino Descomplicado: como elaborar projetos de eletrônica. São Paulo: Érica, 2017.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MONK, Simon. Projetos com Arduino e Android: use seu smartphone ou tablet para controlar o Arduino. Porto Alegre: Bookman, 2014. (Série Tekne)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Complementares desta aula: ASCENCIO, A. F. G.; CAMPOS, E. A. V. Fundamentos da programação de computadores. 2. ed. São Paulo: Pearson Prentice Hall, 2007.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PUGA, Sandra; RISSETTI, Gerson. Lógica de programação e estruturas de dados, com aplicações em Java. 2. ed. São Paulo: Pearson Prentice Hall, 2008.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 0" descr="/home/claude/work/build/assets/logo_uniasselvi.png"/>
          <p:cNvPicPr/>
          <p:nvPr/>
        </p:nvPicPr>
        <p:blipFill>
          <a:blip r:embed="rId1"/>
          <a:stretch/>
        </p:blipFill>
        <p:spPr>
          <a:xfrm>
            <a:off x="4718160" y="2057400"/>
            <a:ext cx="2742480" cy="195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0"/>
          <p:cNvSpPr/>
          <p:nvPr/>
        </p:nvSpPr>
        <p:spPr>
          <a:xfrm>
            <a:off x="1371600" y="4251960"/>
            <a:ext cx="944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Aula 01 concluída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1371600" y="4800600"/>
            <a:ext cx="944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Próxima aula: levantamento e especificação de requisitos a partir do termo de referência.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LibreOffice/26.2.4.2$Linux_X86_64 LibreOffice_project/620$Build-2</Application>
  <AppVersion>15.0000</AppVersion>
  <Words>0</Words>
  <Paragraphs>0</Paragraphs>
  <Company>UNIASSELVI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2026-08-16T17:35:16Z</dcterms:created>
  <dc:creator>Evaldo A. Oliveira</dc:creator>
  <dc:description/>
  <dc:language>pt-BR</dc:language>
  <cp:lastModifiedBy/>
  <dcterms:modified xsi:type="dcterms:W3CDTF">2026-08-19T18:23:17Z</dcterms:modified>
  <cp:revision>3</cp:revision>
  <dc:subject>PptxGenJS Presentation</dc:subject>
  <dc:title>Aula 01 — A disciplina, o termo de referência e o produto de software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